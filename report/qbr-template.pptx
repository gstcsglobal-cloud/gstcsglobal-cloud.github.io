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6" r:id="rId4"/>
  </p:sldMasterIdLst>
  <p:notesMasterIdLst>
    <p:notesMasterId r:id="rId8"/>
  </p:notesMasterIdLst>
  <p:handoutMasterIdLst>
    <p:handoutMasterId r:id="rId9"/>
  </p:handoutMasterIdLst>
  <p:sldIdLst>
    <p:sldId id="270" r:id="rId5"/>
    <p:sldId id="271" r:id="rId6"/>
    <p:sldId id="272" r:id="rId7"/>
  </p:sldIdLst>
  <p:sldSz cx="12192000" cy="6858000"/>
  <p:notesSz cx="6797675" cy="9926638"/>
  <p:defaultTextStyle>
    <a:defPPr>
      <a:defRPr lang="ko-KR"/>
    </a:defPPr>
    <a:lvl1pPr marL="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47179C-F8D5-42CE-AFD0-A2A594FAF2D4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97" autoAdjust="0"/>
    <p:restoredTop sz="90028" autoAdjust="0"/>
  </p:normalViewPr>
  <p:slideViewPr>
    <p:cSldViewPr>
      <p:cViewPr varScale="1">
        <p:scale>
          <a:sx n="86" d="100"/>
          <a:sy n="86" d="100"/>
        </p:scale>
        <p:origin x="384" y="58"/>
      </p:cViewPr>
      <p:guideLst>
        <p:guide orient="horz" pos="572"/>
        <p:guide pos="3840"/>
        <p:guide pos="80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77" d="100"/>
          <a:sy n="77" d="100"/>
        </p:scale>
        <p:origin x="4080" y="12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v>대상건수</c:v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'!$Y$178:$AJ$178</c:f>
              <c:numCache>
                <c:formatCode>0</c:formatCode>
                <c:ptCount val="12"/>
                <c:pt idx="0">
                  <c:v>2675</c:v>
                </c:pt>
                <c:pt idx="1">
                  <c:v>2716</c:v>
                </c:pt>
                <c:pt idx="2">
                  <c:v>2798</c:v>
                </c:pt>
                <c:pt idx="3">
                  <c:v>2798</c:v>
                </c:pt>
                <c:pt idx="4">
                  <c:v>2798</c:v>
                </c:pt>
                <c:pt idx="5">
                  <c:v>2798</c:v>
                </c:pt>
                <c:pt idx="6">
                  <c:v>4196</c:v>
                </c:pt>
                <c:pt idx="7">
                  <c:v>4196</c:v>
                </c:pt>
                <c:pt idx="8">
                  <c:v>4440</c:v>
                </c:pt>
                <c:pt idx="9">
                  <c:v>4440</c:v>
                </c:pt>
                <c:pt idx="10">
                  <c:v>4440</c:v>
                </c:pt>
                <c:pt idx="11">
                  <c:v>4700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C-4577-A79A-925F67F38D98}"/>
            </c:ext>
          </c:extLst>
        </c:ser>
        <c:ser>
          <c:idx val="3"/>
          <c:order val="1"/>
          <c:tx>
            <c:v>완료건수</c:v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'!$Y$179:$AJ$179</c:f>
              <c:numCache>
                <c:formatCode>0</c:formatCode>
                <c:ptCount val="12"/>
                <c:pt idx="0">
                  <c:v>369</c:v>
                </c:pt>
                <c:pt idx="1">
                  <c:v>452</c:v>
                </c:pt>
                <c:pt idx="2">
                  <c:v>731</c:v>
                </c:pt>
                <c:pt idx="3">
                  <c:v>914</c:v>
                </c:pt>
                <c:pt idx="4">
                  <c:v>1098</c:v>
                </c:pt>
                <c:pt idx="5">
                  <c:v>1151</c:v>
                </c:pt>
                <c:pt idx="6">
                  <c:v>1427</c:v>
                </c:pt>
                <c:pt idx="7">
                  <c:v>1557</c:v>
                </c:pt>
                <c:pt idx="8">
                  <c:v>1761</c:v>
                </c:pt>
                <c:pt idx="9">
                  <c:v>1897</c:v>
                </c:pt>
                <c:pt idx="10">
                  <c:v>2012</c:v>
                </c:pt>
                <c:pt idx="11">
                  <c:v>2164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C-4577-A79A-925F67F38D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545990816"/>
        <c:axId val="-545981024"/>
      </c:barChart>
      <c:lineChart>
        <c:grouping val="stacked"/>
        <c:varyColors val="0"/>
        <c:ser>
          <c:idx val="0"/>
          <c:order val="2"/>
          <c:tx>
            <c:v>진행율</c:v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'!$Y$180:$AJ$180</c:f>
              <c:numCache>
                <c:formatCode>0%</c:formatCode>
                <c:ptCount val="12"/>
                <c:pt idx="0">
                  <c:v>0.13794392523364485</c:v>
                </c:pt>
                <c:pt idx="1">
                  <c:v>0.16642120765832105</c:v>
                </c:pt>
                <c:pt idx="2">
                  <c:v>0.26125804145818443</c:v>
                </c:pt>
                <c:pt idx="3">
                  <c:v>0.32666190135811296</c:v>
                </c:pt>
                <c:pt idx="4">
                  <c:v>0.39242315939957112</c:v>
                </c:pt>
                <c:pt idx="5">
                  <c:v>0.41136526090064329</c:v>
                </c:pt>
                <c:pt idx="6">
                  <c:v>0.34008579599618682</c:v>
                </c:pt>
                <c:pt idx="7">
                  <c:v>0.37106768350810293</c:v>
                </c:pt>
                <c:pt idx="8">
                  <c:v>0.39662162162162162</c:v>
                </c:pt>
                <c:pt idx="9">
                  <c:v>0.42725225225225227</c:v>
                </c:pt>
                <c:pt idx="10">
                  <c:v>0.45315315315315313</c:v>
                </c:pt>
                <c:pt idx="11">
                  <c:v>0.4604255319148936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4C-4577-A79A-925F67F38D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545988096"/>
        <c:axId val="-545980480"/>
      </c:lineChart>
      <c:dateAx>
        <c:axId val="-545990816"/>
        <c:scaling>
          <c:orientation val="minMax"/>
        </c:scaling>
        <c:delete val="0"/>
        <c:axPos val="b"/>
        <c:numFmt formatCode="m&quot;월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81024"/>
        <c:crosses val="autoZero"/>
        <c:auto val="1"/>
        <c:lblOffset val="100"/>
        <c:baseTimeUnit val="months"/>
      </c:dateAx>
      <c:valAx>
        <c:axId val="-545981024"/>
        <c:scaling>
          <c:orientation val="minMax"/>
          <c:max val="5000"/>
        </c:scaling>
        <c:delete val="0"/>
        <c:axPos val="l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90816"/>
        <c:crosses val="autoZero"/>
        <c:crossBetween val="between"/>
      </c:valAx>
      <c:valAx>
        <c:axId val="-545980480"/>
        <c:scaling>
          <c:orientation val="minMax"/>
          <c:max val="1"/>
        </c:scaling>
        <c:delete val="0"/>
        <c:axPos val="r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88096"/>
        <c:crosses val="max"/>
        <c:crossBetween val="between"/>
      </c:valAx>
      <c:dateAx>
        <c:axId val="-545988096"/>
        <c:scaling>
          <c:orientation val="minMax"/>
        </c:scaling>
        <c:delete val="1"/>
        <c:axPos val="t"/>
        <c:numFmt formatCode="m&quot;월&quot;" sourceLinked="1"/>
        <c:majorTickMark val="out"/>
        <c:minorTickMark val="none"/>
        <c:tickLblPos val="nextTo"/>
        <c:crossAx val="-545980480"/>
        <c:crosses val="max"/>
        <c:auto val="1"/>
        <c:lblOffset val="100"/>
        <c:baseTimeUnit val="months"/>
      </c:date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700"/>
      </a:pPr>
      <a:endParaRPr lang="ko-K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1"/>
          <c:order val="1"/>
          <c:tx>
            <c:v>총인원</c:v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'!$Y$7:$AJ$7</c:f>
              <c:numCache>
                <c:formatCode>General</c:formatCode>
                <c:ptCount val="12"/>
                <c:pt idx="0">
                  <c:v>48</c:v>
                </c:pt>
                <c:pt idx="1">
                  <c:v>56</c:v>
                </c:pt>
                <c:pt idx="2">
                  <c:v>57</c:v>
                </c:pt>
                <c:pt idx="3">
                  <c:v>56</c:v>
                </c:pt>
                <c:pt idx="4">
                  <c:v>57</c:v>
                </c:pt>
                <c:pt idx="5">
                  <c:v>56</c:v>
                </c:pt>
                <c:pt idx="6">
                  <c:v>57</c:v>
                </c:pt>
                <c:pt idx="7">
                  <c:v>58</c:v>
                </c:pt>
                <c:pt idx="8">
                  <c:v>56</c:v>
                </c:pt>
                <c:pt idx="9">
                  <c:v>51</c:v>
                </c:pt>
                <c:pt idx="10">
                  <c:v>55</c:v>
                </c:pt>
                <c:pt idx="1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42-4DB4-9142-2105AE73E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-545992448"/>
        <c:axId val="-545991904"/>
      </c:barChart>
      <c:lineChart>
        <c:grouping val="stacked"/>
        <c:varyColors val="0"/>
        <c:ser>
          <c:idx val="0"/>
          <c:order val="0"/>
          <c:tx>
            <c:v>TO</c:v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'!$Y$6:$AJ$6</c:f>
              <c:numCache>
                <c:formatCode>0.0_ </c:formatCode>
                <c:ptCount val="12"/>
                <c:pt idx="0">
                  <c:v>63.616666666666667</c:v>
                </c:pt>
                <c:pt idx="1">
                  <c:v>65.349999999999994</c:v>
                </c:pt>
                <c:pt idx="2">
                  <c:v>66.783333333333331</c:v>
                </c:pt>
                <c:pt idx="3">
                  <c:v>67.683333333333337</c:v>
                </c:pt>
                <c:pt idx="4">
                  <c:v>69.916666666666671</c:v>
                </c:pt>
                <c:pt idx="5">
                  <c:v>73.016666666666666</c:v>
                </c:pt>
                <c:pt idx="6">
                  <c:v>76.150000000000006</c:v>
                </c:pt>
                <c:pt idx="7">
                  <c:v>77.349999999999994</c:v>
                </c:pt>
                <c:pt idx="8">
                  <c:v>79.849999999999994</c:v>
                </c:pt>
                <c:pt idx="9">
                  <c:v>81.116666666666674</c:v>
                </c:pt>
                <c:pt idx="10">
                  <c:v>82.35</c:v>
                </c:pt>
                <c:pt idx="11">
                  <c:v>83.35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42-4DB4-9142-2105AE73E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545992448"/>
        <c:axId val="-545991904"/>
      </c:lineChart>
      <c:dateAx>
        <c:axId val="-545992448"/>
        <c:scaling>
          <c:orientation val="minMax"/>
        </c:scaling>
        <c:delete val="0"/>
        <c:axPos val="b"/>
        <c:numFmt formatCode="m&quot;월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91904"/>
        <c:crosses val="autoZero"/>
        <c:auto val="1"/>
        <c:lblOffset val="100"/>
        <c:baseTimeUnit val="months"/>
      </c:dateAx>
      <c:valAx>
        <c:axId val="-5459919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545992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700"/>
      </a:pPr>
      <a:endParaRPr lang="ko-KR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1"/>
          <c:order val="0"/>
          <c:tx>
            <c:v>대상인원</c:v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'!$Y$61:$AJ$61</c:f>
              <c:numCache>
                <c:formatCode>General</c:formatCode>
                <c:ptCount val="12"/>
                <c:pt idx="0">
                  <c:v>48</c:v>
                </c:pt>
                <c:pt idx="1">
                  <c:v>56</c:v>
                </c:pt>
                <c:pt idx="2">
                  <c:v>57</c:v>
                </c:pt>
                <c:pt idx="3">
                  <c:v>56</c:v>
                </c:pt>
                <c:pt idx="4">
                  <c:v>57</c:v>
                </c:pt>
                <c:pt idx="5">
                  <c:v>56</c:v>
                </c:pt>
                <c:pt idx="6">
                  <c:v>57</c:v>
                </c:pt>
                <c:pt idx="7">
                  <c:v>58</c:v>
                </c:pt>
                <c:pt idx="8">
                  <c:v>56</c:v>
                </c:pt>
                <c:pt idx="9">
                  <c:v>51</c:v>
                </c:pt>
                <c:pt idx="10">
                  <c:v>55</c:v>
                </c:pt>
                <c:pt idx="1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8C-4886-93A2-E0090B5353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-545979392"/>
        <c:axId val="-545989184"/>
      </c:barChart>
      <c:lineChart>
        <c:grouping val="stacked"/>
        <c:varyColors val="0"/>
        <c:ser>
          <c:idx val="4"/>
          <c:order val="1"/>
          <c:tx>
            <c:v>완료율</c:v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30000"/>
                </a:schemeClr>
              </a:solidFill>
              <a:ln w="9525">
                <a:solidFill>
                  <a:schemeClr val="dk1">
                    <a:tint val="3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'!$Y$2:$AJ$2</c:f>
              <c:numCache>
                <c:formatCode>General</c:formatCode>
                <c:ptCount val="12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6</c:v>
                </c:pt>
              </c:numCache>
            </c:numRef>
          </c:cat>
          <c:val>
            <c:numRef>
              <c:f>'CS운영부 주간업무자료 '!$Y$63:$AJ$63</c:f>
              <c:numCache>
                <c:formatCode>0%</c:formatCode>
                <c:ptCount val="12"/>
                <c:pt idx="0">
                  <c:v>0.58333333333333337</c:v>
                </c:pt>
                <c:pt idx="1">
                  <c:v>0.6071428571428571</c:v>
                </c:pt>
                <c:pt idx="2">
                  <c:v>0.63157894736842102</c:v>
                </c:pt>
                <c:pt idx="3">
                  <c:v>0.6785714285714286</c:v>
                </c:pt>
                <c:pt idx="4">
                  <c:v>0.7192982456140351</c:v>
                </c:pt>
                <c:pt idx="5">
                  <c:v>0.75</c:v>
                </c:pt>
                <c:pt idx="6">
                  <c:v>0.70175438596491224</c:v>
                </c:pt>
                <c:pt idx="7">
                  <c:v>0.65517241379310343</c:v>
                </c:pt>
                <c:pt idx="8">
                  <c:v>0.75</c:v>
                </c:pt>
                <c:pt idx="9">
                  <c:v>0.82352941176470584</c:v>
                </c:pt>
                <c:pt idx="10">
                  <c:v>0.89090909090909087</c:v>
                </c:pt>
                <c:pt idx="11">
                  <c:v>0.86792452830188682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8C-4886-93A2-E0090B5353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545986464"/>
        <c:axId val="-545991360"/>
      </c:lineChart>
      <c:dateAx>
        <c:axId val="-545979392"/>
        <c:scaling>
          <c:orientation val="minMax"/>
        </c:scaling>
        <c:delete val="0"/>
        <c:axPos val="b"/>
        <c:numFmt formatCode="m&quot;월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89184"/>
        <c:crosses val="autoZero"/>
        <c:auto val="1"/>
        <c:lblOffset val="100"/>
        <c:baseTimeUnit val="months"/>
      </c:dateAx>
      <c:valAx>
        <c:axId val="-545989184"/>
        <c:scaling>
          <c:orientation val="minMax"/>
        </c:scaling>
        <c:delete val="0"/>
        <c:axPos val="l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79392"/>
        <c:crosses val="autoZero"/>
        <c:crossBetween val="between"/>
      </c:valAx>
      <c:valAx>
        <c:axId val="-545991360"/>
        <c:scaling>
          <c:orientation val="minMax"/>
          <c:max val="1"/>
        </c:scaling>
        <c:delete val="0"/>
        <c:axPos val="r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86464"/>
        <c:crosses val="max"/>
        <c:crossBetween val="between"/>
      </c:valAx>
      <c:catAx>
        <c:axId val="-54598646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545991360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700"/>
      </a:pPr>
      <a:endParaRPr lang="ko-KR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2"/>
          <c:order val="1"/>
          <c:tx>
            <c:v>출근평균</c:v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'!$Y$200:$AJ$200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</c:strRef>
          </c:cat>
          <c:val>
            <c:numRef>
              <c:f>'CS운영부 주간업무자료 '!$Y$231:$AJ$231</c:f>
              <c:numCache>
                <c:formatCode>0.0</c:formatCode>
                <c:ptCount val="12"/>
                <c:pt idx="0">
                  <c:v>41.4</c:v>
                </c:pt>
                <c:pt idx="1">
                  <c:v>42.6</c:v>
                </c:pt>
                <c:pt idx="2">
                  <c:v>47</c:v>
                </c:pt>
                <c:pt idx="3">
                  <c:v>46.6</c:v>
                </c:pt>
                <c:pt idx="4">
                  <c:v>47.8</c:v>
                </c:pt>
                <c:pt idx="5">
                  <c:v>43</c:v>
                </c:pt>
                <c:pt idx="6">
                  <c:v>42.8</c:v>
                </c:pt>
                <c:pt idx="7">
                  <c:v>42.6</c:v>
                </c:pt>
                <c:pt idx="8">
                  <c:v>44.4</c:v>
                </c:pt>
                <c:pt idx="9">
                  <c:v>41</c:v>
                </c:pt>
                <c:pt idx="10">
                  <c:v>44.2</c:v>
                </c:pt>
                <c:pt idx="1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8-4D36-9116-FA144A0FE92E}"/>
            </c:ext>
          </c:extLst>
        </c:ser>
        <c:ser>
          <c:idx val="3"/>
          <c:order val="3"/>
          <c:tx>
            <c:v>휴가평균</c:v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'!$Y$200:$AJ$200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</c:strRef>
          </c:cat>
          <c:val>
            <c:numRef>
              <c:f>'CS운영부 주간업무자료 '!$Y$233:$AJ$233</c:f>
              <c:numCache>
                <c:formatCode>0.0</c:formatCode>
                <c:ptCount val="12"/>
                <c:pt idx="0">
                  <c:v>9.6</c:v>
                </c:pt>
                <c:pt idx="1">
                  <c:v>7.4</c:v>
                </c:pt>
                <c:pt idx="2">
                  <c:v>5</c:v>
                </c:pt>
                <c:pt idx="3">
                  <c:v>5.4</c:v>
                </c:pt>
                <c:pt idx="4">
                  <c:v>7.2</c:v>
                </c:pt>
                <c:pt idx="5">
                  <c:v>12</c:v>
                </c:pt>
                <c:pt idx="6">
                  <c:v>9.1999999999999993</c:v>
                </c:pt>
                <c:pt idx="7">
                  <c:v>8.4</c:v>
                </c:pt>
                <c:pt idx="8">
                  <c:v>6.6</c:v>
                </c:pt>
                <c:pt idx="9">
                  <c:v>10</c:v>
                </c:pt>
                <c:pt idx="10">
                  <c:v>4.8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8-4D36-9116-FA144A0FE9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545983200"/>
        <c:axId val="-545987552"/>
      </c:barChart>
      <c:lineChart>
        <c:grouping val="stacked"/>
        <c:varyColors val="0"/>
        <c:ser>
          <c:idx val="0"/>
          <c:order val="0"/>
          <c:tx>
            <c:v>총 인원</c:v>
          </c:tx>
          <c:spPr>
            <a:ln w="28575" cap="rnd">
              <a:solidFill>
                <a:srgbClr val="0D0DF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'!$Y$200:$AJ$200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</c:strRef>
          </c:cat>
          <c:val>
            <c:numRef>
              <c:f>'CS운영부 주간업무자료 '!$Y$204:$AJ$204</c:f>
              <c:numCache>
                <c:formatCode>General</c:formatCode>
                <c:ptCount val="12"/>
                <c:pt idx="0">
                  <c:v>51</c:v>
                </c:pt>
                <c:pt idx="1">
                  <c:v>50</c:v>
                </c:pt>
                <c:pt idx="2">
                  <c:v>52</c:v>
                </c:pt>
                <c:pt idx="3">
                  <c:v>52</c:v>
                </c:pt>
                <c:pt idx="4">
                  <c:v>55</c:v>
                </c:pt>
                <c:pt idx="5">
                  <c:v>55</c:v>
                </c:pt>
                <c:pt idx="6">
                  <c:v>52</c:v>
                </c:pt>
                <c:pt idx="7">
                  <c:v>51</c:v>
                </c:pt>
                <c:pt idx="8">
                  <c:v>51</c:v>
                </c:pt>
                <c:pt idx="9">
                  <c:v>51</c:v>
                </c:pt>
                <c:pt idx="10">
                  <c:v>49</c:v>
                </c:pt>
                <c:pt idx="11">
                  <c:v>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C8-4D36-9116-FA144A0FE9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545983200"/>
        <c:axId val="-545987552"/>
      </c:lineChart>
      <c:lineChart>
        <c:grouping val="stacked"/>
        <c:varyColors val="0"/>
        <c:ser>
          <c:idx val="5"/>
          <c:order val="2"/>
          <c:tx>
            <c:v>인당작업</c:v>
          </c:tx>
          <c:spPr>
            <a:ln w="63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6350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'!$Y$200:$AJ$200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</c:strRef>
          </c:cat>
          <c:val>
            <c:numRef>
              <c:f>'CS운영부 주간업무자료 '!$Y$333:$AJ$333</c:f>
              <c:numCache>
                <c:formatCode>0.0</c:formatCode>
                <c:ptCount val="12"/>
                <c:pt idx="0">
                  <c:v>6.7632850241545892</c:v>
                </c:pt>
                <c:pt idx="1">
                  <c:v>5.023474178403756</c:v>
                </c:pt>
                <c:pt idx="2">
                  <c:v>5.4680851063829783</c:v>
                </c:pt>
                <c:pt idx="3">
                  <c:v>5.6652360515021458</c:v>
                </c:pt>
                <c:pt idx="4">
                  <c:v>4.7280334728033475</c:v>
                </c:pt>
                <c:pt idx="5">
                  <c:v>4.7209302325581399</c:v>
                </c:pt>
                <c:pt idx="6">
                  <c:v>5.3971962616822431</c:v>
                </c:pt>
                <c:pt idx="7">
                  <c:v>5.352112676056338</c:v>
                </c:pt>
                <c:pt idx="8">
                  <c:v>4.8873873873873874</c:v>
                </c:pt>
                <c:pt idx="9">
                  <c:v>5.5121951219512191</c:v>
                </c:pt>
                <c:pt idx="10">
                  <c:v>5.3393665158371038</c:v>
                </c:pt>
                <c:pt idx="11">
                  <c:v>4.0588235294117645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4C8-4D36-9116-FA144A0FE9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545987008"/>
        <c:axId val="-545992992"/>
      </c:lineChart>
      <c:catAx>
        <c:axId val="-5459832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7552"/>
        <c:crossesAt val="0"/>
        <c:auto val="1"/>
        <c:lblAlgn val="ctr"/>
        <c:lblOffset val="100"/>
        <c:noMultiLvlLbl val="0"/>
      </c:catAx>
      <c:valAx>
        <c:axId val="-545987552"/>
        <c:scaling>
          <c:orientation val="minMax"/>
          <c:max val="80"/>
          <c:min val="0"/>
        </c:scaling>
        <c:delete val="0"/>
        <c:axPos val="l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3200"/>
        <c:crosses val="autoZero"/>
        <c:crossBetween val="between"/>
      </c:valAx>
      <c:valAx>
        <c:axId val="-545992992"/>
        <c:scaling>
          <c:orientation val="minMax"/>
          <c:max val="9"/>
        </c:scaling>
        <c:delete val="0"/>
        <c:axPos val="r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7008"/>
        <c:crosses val="max"/>
        <c:crossBetween val="between"/>
      </c:valAx>
      <c:catAx>
        <c:axId val="-54598700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545992992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ea"/>
          <a:ea typeface="+mn-ea"/>
        </a:defRPr>
      </a:pPr>
      <a:endParaRPr lang="ko-KR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1"/>
          <c:order val="0"/>
          <c:tx>
            <c:v>GST Taiwan</c:v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accent2"/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'!$Y$100:$AJ$100</c:f>
              <c:numCache>
                <c:formatCode>0</c:formatCode>
                <c:ptCount val="12"/>
                <c:pt idx="0">
                  <c:v>1919</c:v>
                </c:pt>
                <c:pt idx="1">
                  <c:v>1971</c:v>
                </c:pt>
                <c:pt idx="2">
                  <c:v>2014</c:v>
                </c:pt>
                <c:pt idx="3">
                  <c:v>2041</c:v>
                </c:pt>
                <c:pt idx="4">
                  <c:v>2108</c:v>
                </c:pt>
                <c:pt idx="5">
                  <c:v>2201</c:v>
                </c:pt>
                <c:pt idx="6">
                  <c:v>2295</c:v>
                </c:pt>
                <c:pt idx="7">
                  <c:v>2331</c:v>
                </c:pt>
                <c:pt idx="8">
                  <c:v>2406</c:v>
                </c:pt>
                <c:pt idx="9">
                  <c:v>2444</c:v>
                </c:pt>
                <c:pt idx="10">
                  <c:v>2481</c:v>
                </c:pt>
                <c:pt idx="11">
                  <c:v>2511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0B-4B04-B95E-76B4CAB5A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545985920"/>
        <c:axId val="-545982656"/>
      </c:barChart>
      <c:lineChart>
        <c:grouping val="stacked"/>
        <c:varyColors val="0"/>
        <c:ser>
          <c:idx val="0"/>
          <c:order val="1"/>
          <c:tx>
            <c:v>전체 인당 관리</c:v>
          </c:tx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accent2"/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'!$Y$122:$AJ$122</c:f>
              <c:numCache>
                <c:formatCode>0.0</c:formatCode>
                <c:ptCount val="12"/>
                <c:pt idx="0">
                  <c:v>39.979166666666664</c:v>
                </c:pt>
                <c:pt idx="1">
                  <c:v>35.196428571428569</c:v>
                </c:pt>
                <c:pt idx="2">
                  <c:v>35.333333333333336</c:v>
                </c:pt>
                <c:pt idx="3">
                  <c:v>36.446428571428569</c:v>
                </c:pt>
                <c:pt idx="4">
                  <c:v>36.982456140350877</c:v>
                </c:pt>
                <c:pt idx="5">
                  <c:v>39.303571428571431</c:v>
                </c:pt>
                <c:pt idx="6">
                  <c:v>40.263157894736842</c:v>
                </c:pt>
                <c:pt idx="7">
                  <c:v>40.189655172413794</c:v>
                </c:pt>
                <c:pt idx="8">
                  <c:v>42.964285714285715</c:v>
                </c:pt>
                <c:pt idx="9">
                  <c:v>47.921568627450981</c:v>
                </c:pt>
                <c:pt idx="10">
                  <c:v>45.109090909090909</c:v>
                </c:pt>
                <c:pt idx="11">
                  <c:v>47.377358490566039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0B-4B04-B95E-76B4CAB5A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45981568"/>
        <c:axId val="-545985376"/>
      </c:lineChart>
      <c:dateAx>
        <c:axId val="-545985920"/>
        <c:scaling>
          <c:orientation val="minMax"/>
        </c:scaling>
        <c:delete val="0"/>
        <c:axPos val="b"/>
        <c:numFmt formatCode="m&quot;월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2656"/>
        <c:crosses val="autoZero"/>
        <c:auto val="1"/>
        <c:lblOffset val="100"/>
        <c:baseTimeUnit val="months"/>
      </c:dateAx>
      <c:valAx>
        <c:axId val="-545982656"/>
        <c:scaling>
          <c:orientation val="minMax"/>
          <c:max val="2800"/>
          <c:min val="0"/>
        </c:scaling>
        <c:delete val="0"/>
        <c:axPos val="l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5920"/>
        <c:crosses val="autoZero"/>
        <c:crossBetween val="between"/>
      </c:valAx>
      <c:valAx>
        <c:axId val="-545985376"/>
        <c:scaling>
          <c:orientation val="minMax"/>
        </c:scaling>
        <c:delete val="0"/>
        <c:axPos val="r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1568"/>
        <c:crosses val="max"/>
        <c:crossBetween val="between"/>
      </c:valAx>
      <c:dateAx>
        <c:axId val="-545981568"/>
        <c:scaling>
          <c:orientation val="minMax"/>
        </c:scaling>
        <c:delete val="1"/>
        <c:axPos val="t"/>
        <c:numFmt formatCode="m&quot;월&quot;" sourceLinked="1"/>
        <c:majorTickMark val="out"/>
        <c:minorTickMark val="none"/>
        <c:tickLblPos val="nextTo"/>
        <c:crossAx val="-545985376"/>
        <c:crosses val="max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ea"/>
          <a:ea typeface="+mn-ea"/>
        </a:defRPr>
      </a:pPr>
      <a:endParaRPr lang="ko-KR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'CS운영부 주간업무자료 '!$V$335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ysClr val="window" lastClr="FFFFFF">
                <a:lumMod val="75000"/>
              </a:sysClr>
            </a:solidFill>
            <a:ln w="6350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'!$Y$199:$AJ$199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  <c:extLst xmlns:c15="http://schemas.microsoft.com/office/drawing/2012/chart"/>
            </c:strRef>
          </c:cat>
          <c:val>
            <c:numRef>
              <c:f>'CS운영부 주간업무자료 '!$Y$335:$AJ$335</c:f>
              <c:numCache>
                <c:formatCode>0.0_);[Red]\(0.0\)</c:formatCode>
                <c:ptCount val="12"/>
                <c:pt idx="0">
                  <c:v>3.4664251207729473</c:v>
                </c:pt>
                <c:pt idx="1">
                  <c:v>2.6028169014084512</c:v>
                </c:pt>
                <c:pt idx="2">
                  <c:v>2.7441134751773051</c:v>
                </c:pt>
                <c:pt idx="3">
                  <c:v>2.7409155937052931</c:v>
                </c:pt>
                <c:pt idx="4">
                  <c:v>2.5611576011157604</c:v>
                </c:pt>
                <c:pt idx="5">
                  <c:v>2.4907751937984495</c:v>
                </c:pt>
                <c:pt idx="6">
                  <c:v>3.0376947040498448</c:v>
                </c:pt>
                <c:pt idx="7">
                  <c:v>2.8676838810641629</c:v>
                </c:pt>
                <c:pt idx="8">
                  <c:v>2.5806306306306306</c:v>
                </c:pt>
                <c:pt idx="9">
                  <c:v>2.7640650406504066</c:v>
                </c:pt>
                <c:pt idx="10">
                  <c:v>2.5804675716440419</c:v>
                </c:pt>
                <c:pt idx="11">
                  <c:v>2.4139869281045754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63-432F-9E34-519D3D843C97}"/>
            </c:ext>
          </c:extLst>
        </c:ser>
        <c:ser>
          <c:idx val="1"/>
          <c:order val="1"/>
          <c:tx>
            <c:strRef>
              <c:f>'CS운영부 주간업무자료 '!$V$336</c:f>
              <c:strCache>
                <c:ptCount val="1"/>
                <c:pt idx="0">
                  <c:v>非 PM</c:v>
                </c:pt>
              </c:strCache>
            </c:strRef>
          </c:tx>
          <c:spPr>
            <a:solidFill>
              <a:srgbClr val="E7E6E6">
                <a:lumMod val="50000"/>
              </a:srgbClr>
            </a:solidFill>
            <a:ln>
              <a:solidFill>
                <a:srgbClr val="E7E6E6">
                  <a:lumMod val="50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'!$Y$199:$AJ$199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  <c:extLst xmlns:c15="http://schemas.microsoft.com/office/drawing/2012/chart"/>
            </c:strRef>
          </c:cat>
          <c:val>
            <c:numRef>
              <c:f>'CS운영부 주간업무자료 '!$Y$336:$AJ$336</c:f>
              <c:numCache>
                <c:formatCode>0.0_);[Red]\(0.0\)</c:formatCode>
                <c:ptCount val="12"/>
                <c:pt idx="0">
                  <c:v>0.89959742351046701</c:v>
                </c:pt>
                <c:pt idx="1">
                  <c:v>0.70266040688575893</c:v>
                </c:pt>
                <c:pt idx="2">
                  <c:v>1.4336170212765957</c:v>
                </c:pt>
                <c:pt idx="3">
                  <c:v>1.0769670958512161</c:v>
                </c:pt>
                <c:pt idx="4">
                  <c:v>0.81366806136680603</c:v>
                </c:pt>
                <c:pt idx="5">
                  <c:v>0.67108527131782947</c:v>
                </c:pt>
                <c:pt idx="6">
                  <c:v>0.73333333333333339</c:v>
                </c:pt>
                <c:pt idx="7">
                  <c:v>0.97543035993740212</c:v>
                </c:pt>
                <c:pt idx="8">
                  <c:v>0.79707207207207209</c:v>
                </c:pt>
                <c:pt idx="9">
                  <c:v>1.8266666666666669</c:v>
                </c:pt>
                <c:pt idx="10">
                  <c:v>0.80052790346907998</c:v>
                </c:pt>
                <c:pt idx="11">
                  <c:v>0.54718954248366014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3-432F-9E34-519D3D84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545979936"/>
        <c:axId val="-545984832"/>
      </c:barChart>
      <c:lineChart>
        <c:grouping val="standard"/>
        <c:varyColors val="0"/>
        <c:ser>
          <c:idx val="2"/>
          <c:order val="2"/>
          <c:tx>
            <c:strRef>
              <c:f>'CS운영부 주간업무자료 '!$V$334</c:f>
              <c:strCache>
                <c:ptCount val="1"/>
                <c:pt idx="0">
                  <c:v>공수(h)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3175">
                <a:solidFill>
                  <a:srgbClr val="FF0000"/>
                </a:solidFill>
              </a:ln>
              <a:effectLst/>
            </c:spPr>
          </c:marker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'CS운영부 주간업무자료 '!$Y$199:$AJ$199</c:f>
              <c:strCache>
                <c:ptCount val="12"/>
                <c:pt idx="0">
                  <c:v>W17</c:v>
                </c:pt>
                <c:pt idx="1">
                  <c:v>W18</c:v>
                </c:pt>
                <c:pt idx="2">
                  <c:v>W19</c:v>
                </c:pt>
                <c:pt idx="3">
                  <c:v>W20</c:v>
                </c:pt>
                <c:pt idx="4">
                  <c:v>W21</c:v>
                </c:pt>
                <c:pt idx="5">
                  <c:v>W22</c:v>
                </c:pt>
                <c:pt idx="6">
                  <c:v>W23</c:v>
                </c:pt>
                <c:pt idx="7">
                  <c:v>W24</c:v>
                </c:pt>
                <c:pt idx="8">
                  <c:v>W25</c:v>
                </c:pt>
                <c:pt idx="9">
                  <c:v>W26</c:v>
                </c:pt>
                <c:pt idx="10">
                  <c:v>W27</c:v>
                </c:pt>
                <c:pt idx="11">
                  <c:v>W28</c:v>
                </c:pt>
              </c:strCache>
            </c:strRef>
          </c:cat>
          <c:val>
            <c:numRef>
              <c:f>'CS운영부 주간업무자료 '!$Y$334:$AJ$334</c:f>
              <c:numCache>
                <c:formatCode>0.0_);[Red]\(0.0\)</c:formatCode>
                <c:ptCount val="12"/>
                <c:pt idx="0">
                  <c:v>4.366022544283414</c:v>
                </c:pt>
                <c:pt idx="1">
                  <c:v>3.3054773082942104</c:v>
                </c:pt>
                <c:pt idx="2">
                  <c:v>4.1777304964539006</c:v>
                </c:pt>
                <c:pt idx="3">
                  <c:v>3.8178826895565092</c:v>
                </c:pt>
                <c:pt idx="4">
                  <c:v>3.3748256624825665</c:v>
                </c:pt>
                <c:pt idx="5">
                  <c:v>3.1618604651162787</c:v>
                </c:pt>
                <c:pt idx="6">
                  <c:v>3.7710280373831782</c:v>
                </c:pt>
                <c:pt idx="7">
                  <c:v>3.8431142410015653</c:v>
                </c:pt>
                <c:pt idx="8">
                  <c:v>3.3777027027027025</c:v>
                </c:pt>
                <c:pt idx="9">
                  <c:v>4.5907317073170733</c:v>
                </c:pt>
                <c:pt idx="10">
                  <c:v>3.3809954751131217</c:v>
                </c:pt>
                <c:pt idx="11" formatCode="0.00_);[Red]\(0.00\)">
                  <c:v>2.9611764705882355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3-432F-9E34-519D3D84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45983744"/>
        <c:axId val="-545978848"/>
      </c:lineChart>
      <c:catAx>
        <c:axId val="-545979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4832"/>
        <c:crosses val="autoZero"/>
        <c:auto val="1"/>
        <c:lblAlgn val="ctr"/>
        <c:lblOffset val="100"/>
        <c:noMultiLvlLbl val="0"/>
      </c:catAx>
      <c:valAx>
        <c:axId val="-545984832"/>
        <c:scaling>
          <c:orientation val="minMax"/>
          <c:max val="7"/>
          <c:min val="0"/>
        </c:scaling>
        <c:delete val="0"/>
        <c:axPos val="l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79936"/>
        <c:crosses val="autoZero"/>
        <c:crossBetween val="between"/>
      </c:valAx>
      <c:valAx>
        <c:axId val="-545978848"/>
        <c:scaling>
          <c:orientation val="minMax"/>
          <c:min val="0"/>
        </c:scaling>
        <c:delete val="0"/>
        <c:axPos val="r"/>
        <c:numFmt formatCode=";;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45983744"/>
        <c:crosses val="max"/>
        <c:crossBetween val="between"/>
      </c:valAx>
      <c:catAx>
        <c:axId val="-54598374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54597884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6.7486828571794513E-2"/>
          <c:w val="0.984669756714035"/>
          <c:h val="0.7849798105853677"/>
        </c:manualLayout>
      </c:layout>
      <c:barChart>
        <c:barDir val="col"/>
        <c:grouping val="stacked"/>
        <c:varyColors val="0"/>
        <c:ser>
          <c:idx val="0"/>
          <c:order val="0"/>
          <c:tx>
            <c:v>Micron F11</c:v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'!$Y$164:$AJ$164</c:f>
              <c:numCache>
                <c:formatCode>0</c:formatCode>
                <c:ptCount val="12"/>
                <c:pt idx="0">
                  <c:v>9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5</c:v>
                </c:pt>
                <c:pt idx="9">
                  <c:v>7</c:v>
                </c:pt>
                <c:pt idx="10">
                  <c:v>12</c:v>
                </c:pt>
                <c:pt idx="1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4-4CB9-8183-FEDD93913D98}"/>
            </c:ext>
          </c:extLst>
        </c:ser>
        <c:ser>
          <c:idx val="1"/>
          <c:order val="1"/>
          <c:tx>
            <c:v>Micron F16</c:v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'!$Y$165:$AJ$165</c:f>
              <c:numCache>
                <c:formatCode>0</c:formatCode>
                <c:ptCount val="12"/>
                <c:pt idx="0">
                  <c:v>22</c:v>
                </c:pt>
                <c:pt idx="1">
                  <c:v>26</c:v>
                </c:pt>
                <c:pt idx="2">
                  <c:v>17</c:v>
                </c:pt>
                <c:pt idx="3">
                  <c:v>39</c:v>
                </c:pt>
                <c:pt idx="4">
                  <c:v>43</c:v>
                </c:pt>
                <c:pt idx="5">
                  <c:v>52</c:v>
                </c:pt>
                <c:pt idx="6">
                  <c:v>55</c:v>
                </c:pt>
                <c:pt idx="7">
                  <c:v>69</c:v>
                </c:pt>
                <c:pt idx="8">
                  <c:v>72</c:v>
                </c:pt>
                <c:pt idx="9">
                  <c:v>76</c:v>
                </c:pt>
                <c:pt idx="10">
                  <c:v>101</c:v>
                </c:pt>
                <c:pt idx="11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4-4CB9-8183-FEDD93913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545982112"/>
        <c:axId val="-545978304"/>
      </c:barChart>
      <c:lineChart>
        <c:grouping val="standard"/>
        <c:varyColors val="0"/>
        <c:ser>
          <c:idx val="3"/>
          <c:order val="2"/>
          <c:tx>
            <c:v>Micron_Total</c:v>
          </c:tx>
          <c:spPr>
            <a:ln w="63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6350">
                <a:solidFill>
                  <a:srgbClr val="FF0000"/>
                </a:solidFill>
              </a:ln>
              <a:effectLst/>
            </c:spPr>
          </c:marker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'!$Y$162:$AJ$162</c:f>
              <c:numCache>
                <c:formatCode>0</c:formatCode>
                <c:ptCount val="12"/>
                <c:pt idx="0">
                  <c:v>31</c:v>
                </c:pt>
                <c:pt idx="1">
                  <c:v>29</c:v>
                </c:pt>
                <c:pt idx="2">
                  <c:v>17</c:v>
                </c:pt>
                <c:pt idx="3">
                  <c:v>41</c:v>
                </c:pt>
                <c:pt idx="4">
                  <c:v>46</c:v>
                </c:pt>
                <c:pt idx="5">
                  <c:v>55</c:v>
                </c:pt>
                <c:pt idx="6">
                  <c:v>58</c:v>
                </c:pt>
                <c:pt idx="7">
                  <c:v>72</c:v>
                </c:pt>
                <c:pt idx="8">
                  <c:v>77</c:v>
                </c:pt>
                <c:pt idx="9">
                  <c:v>83</c:v>
                </c:pt>
                <c:pt idx="10">
                  <c:v>113</c:v>
                </c:pt>
                <c:pt idx="11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D4-4CB9-8183-FEDD93913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45982112"/>
        <c:axId val="-545978304"/>
      </c:lineChart>
      <c:catAx>
        <c:axId val="-545982112"/>
        <c:scaling>
          <c:orientation val="minMax"/>
        </c:scaling>
        <c:delete val="0"/>
        <c:axPos val="b"/>
        <c:numFmt formatCode="m&quot;월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78304"/>
        <c:crosses val="autoZero"/>
        <c:auto val="0"/>
        <c:lblAlgn val="ctr"/>
        <c:lblOffset val="100"/>
        <c:noMultiLvlLbl val="1"/>
      </c:catAx>
      <c:valAx>
        <c:axId val="-545978304"/>
        <c:scaling>
          <c:orientation val="minMax"/>
          <c:max val="150"/>
          <c:min val="0"/>
        </c:scaling>
        <c:delete val="0"/>
        <c:axPos val="l"/>
        <c:numFmt formatCode="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8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/>
        </a:solidFill>
        <a:ln w="19050" cap="flat" cmpd="sng" algn="ctr">
          <a:noFill/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ea"/>
          <a:ea typeface="+mn-ea"/>
        </a:defRPr>
      </a:pPr>
      <a:endParaRPr lang="ko-KR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6.7486828571794513E-2"/>
          <c:w val="0.984669756714035"/>
          <c:h val="0.7849798105853677"/>
        </c:manualLayout>
      </c:layout>
      <c:barChart>
        <c:barDir val="col"/>
        <c:grouping val="stacked"/>
        <c:varyColors val="0"/>
        <c:ser>
          <c:idx val="1"/>
          <c:order val="0"/>
          <c:tx>
            <c:v>WInbond</c:v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'!$Y$167:$AJ$167</c:f>
              <c:numCache>
                <c:formatCode>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B-45EB-8A3B-4865B66C2E8A}"/>
            </c:ext>
          </c:extLst>
        </c:ser>
        <c:ser>
          <c:idx val="0"/>
          <c:order val="1"/>
          <c:tx>
            <c:v>PSMC &amp; TASC</c:v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'!$Y$166:$AJ$166</c:f>
              <c:numCache>
                <c:formatCode>0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10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B-45EB-8A3B-4865B66C2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545977760"/>
        <c:axId val="-485558080"/>
      </c:barChart>
      <c:lineChart>
        <c:grouping val="standard"/>
        <c:varyColors val="0"/>
        <c:ser>
          <c:idx val="3"/>
          <c:order val="2"/>
          <c:tx>
            <c:v>ETC_Total</c:v>
          </c:tx>
          <c:spPr>
            <a:ln w="63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FF0000"/>
              </a:solidFill>
              <a:ln w="6350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'CS운영부 주간업무자료 '!$Y$4:$AJ$4</c:f>
              <c:numCache>
                <c:formatCode>m"월"</c:formatCode>
                <c:ptCount val="12"/>
                <c:pt idx="0">
                  <c:v>45869</c:v>
                </c:pt>
                <c:pt idx="1">
                  <c:v>45900</c:v>
                </c:pt>
                <c:pt idx="2">
                  <c:v>45930</c:v>
                </c:pt>
                <c:pt idx="3">
                  <c:v>45961</c:v>
                </c:pt>
                <c:pt idx="4">
                  <c:v>45991</c:v>
                </c:pt>
                <c:pt idx="5">
                  <c:v>46022</c:v>
                </c:pt>
                <c:pt idx="6">
                  <c:v>46053</c:v>
                </c:pt>
                <c:pt idx="7">
                  <c:v>46081</c:v>
                </c:pt>
                <c:pt idx="8">
                  <c:v>46112</c:v>
                </c:pt>
                <c:pt idx="9">
                  <c:v>46142</c:v>
                </c:pt>
                <c:pt idx="10">
                  <c:v>46173</c:v>
                </c:pt>
                <c:pt idx="11">
                  <c:v>46203</c:v>
                </c:pt>
              </c:numCache>
            </c:numRef>
          </c:cat>
          <c:val>
            <c:numRef>
              <c:f>'CS운영부 주간업무자료 '!$Y$163:$AJ$163</c:f>
              <c:numCache>
                <c:formatCode>0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5</c:v>
                </c:pt>
                <c:pt idx="3">
                  <c:v>10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AB-45EB-8A3B-4865B66C2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45977760"/>
        <c:axId val="-485558080"/>
      </c:lineChart>
      <c:catAx>
        <c:axId val="-545977760"/>
        <c:scaling>
          <c:orientation val="minMax"/>
        </c:scaling>
        <c:delete val="0"/>
        <c:axPos val="b"/>
        <c:numFmt formatCode="m&quot;월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485558080"/>
        <c:crosses val="autoZero"/>
        <c:auto val="0"/>
        <c:lblAlgn val="ctr"/>
        <c:lblOffset val="100"/>
        <c:noMultiLvlLbl val="1"/>
      </c:catAx>
      <c:valAx>
        <c:axId val="-485558080"/>
        <c:scaling>
          <c:orientation val="minMax"/>
          <c:max val="15"/>
        </c:scaling>
        <c:delete val="0"/>
        <c:axPos val="l"/>
        <c:numFmt formatCode="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-54597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/>
        </a:solidFill>
        <a:ln w="19050" cap="flat" cmpd="sng" algn="ctr">
          <a:noFill/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ea"/>
          <a:ea typeface="+mn-ea"/>
        </a:defRPr>
      </a:pPr>
      <a:endParaRPr lang="ko-KR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6BA32-F8C1-494F-82BC-94B9C1994E8A}" type="datetimeFigureOut">
              <a:rPr lang="ko-KR" altLang="en-US" smtClean="0"/>
              <a:t>2026-08-05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72955-550A-453B-9842-27748AF1F7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95780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5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1677D-F48C-4EC6-86FD-BE0FEA3D8473}" type="datetimeFigureOut">
              <a:rPr lang="ko-KR" altLang="en-US" smtClean="0"/>
              <a:t>2026-08-05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7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8" y="9428587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51" y="9428587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85A40-FA11-4455-8E6E-51B6DE56A4B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0967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5603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013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43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914400" y="2276873"/>
            <a:ext cx="10363200" cy="58419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제  목</a:t>
            </a:r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476212" y="3000373"/>
            <a:ext cx="11239579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6899045" y="3100382"/>
            <a:ext cx="4381531" cy="471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날짜 입력</a:t>
            </a:r>
            <a:r>
              <a:rPr lang="en-US" altLang="ko-KR" dirty="0"/>
              <a:t>: YYYY. MM. DD</a:t>
            </a:r>
            <a:endParaRPr lang="ko-KR" alt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0AF9BCB2-3235-ADF8-FF89-421AB54C2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2537" y="633595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5290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/>
          <p:cNvCxnSpPr/>
          <p:nvPr userDrawn="1"/>
        </p:nvCxnSpPr>
        <p:spPr>
          <a:xfrm>
            <a:off x="666713" y="6286521"/>
            <a:ext cx="10953827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52"/>
          <p:cNvSpPr txBox="1">
            <a:spLocks noChangeArrowheads="1"/>
          </p:cNvSpPr>
          <p:nvPr userDrawn="1"/>
        </p:nvSpPr>
        <p:spPr bwMode="auto">
          <a:xfrm>
            <a:off x="11305157" y="6387605"/>
            <a:ext cx="237813" cy="272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>
              <a:spcBef>
                <a:spcPct val="0"/>
              </a:spcBef>
              <a:defRPr/>
            </a:pPr>
            <a:fld id="{C5B49D31-9737-40AC-A433-FB34C8ECC24D}" type="slidenum">
              <a:rPr kumimoji="1" lang="en-US" altLang="ko-KR" sz="1300" b="1">
                <a:solidFill>
                  <a:prstClr val="black"/>
                </a:solidFill>
                <a:latin typeface="Arial Narrow" pitchFamily="34" charset="0"/>
                <a:ea typeface="바탕체" pitchFamily="17" charset="-127"/>
              </a:rPr>
              <a:pPr>
                <a:spcBef>
                  <a:spcPct val="0"/>
                </a:spcBef>
                <a:defRPr/>
              </a:pPr>
              <a:t>‹#›</a:t>
            </a:fld>
            <a:endParaRPr kumimoji="1" lang="en-US" altLang="ko-KR" sz="1300" b="1" dirty="0">
              <a:solidFill>
                <a:prstClr val="black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688681" y="555005"/>
            <a:ext cx="10953827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AB922F6-D5C8-F9AC-4C0C-09506521A5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402" y="1196977"/>
            <a:ext cx="9505951" cy="3527425"/>
          </a:xfrm>
          <a:prstGeom prst="rect">
            <a:avLst/>
          </a:prstGeom>
        </p:spPr>
        <p:txBody>
          <a:bodyPr/>
          <a:lstStyle>
            <a:lvl1pPr marL="514338" indent="-514338">
              <a:buFont typeface="+mj-lt"/>
              <a:buAutoNum type="arabicPeriod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30BACC9-82CA-3A73-5ADB-5FFA1D77DA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5658" y="799877"/>
            <a:ext cx="2228055" cy="258763"/>
          </a:xfrm>
          <a:prstGeom prst="rect">
            <a:avLst/>
          </a:prstGeom>
          <a:noFill/>
        </p:spPr>
        <p:txBody>
          <a:bodyPr anchor="b"/>
          <a:lstStyle>
            <a:lvl1pPr marL="0" indent="0" algn="l">
              <a:lnSpc>
                <a:spcPct val="150000"/>
              </a:lnSpc>
              <a:buNone/>
              <a:defRPr sz="1200">
                <a:latin typeface="+mn-ea"/>
                <a:ea typeface="+mn-ea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ko-KR" altLang="en-US" dirty="0"/>
              <a:t>■ 하위제목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7EF2043-7768-E8D5-613C-8E41A332F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07" y="70704"/>
            <a:ext cx="6152789" cy="433165"/>
          </a:xfrm>
          <a:prstGeom prst="rect">
            <a:avLst/>
          </a:prstGeom>
        </p:spPr>
        <p:txBody>
          <a:bodyPr/>
          <a:lstStyle>
            <a:lvl1pPr algn="l">
              <a:defRPr sz="2300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제 목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008EE-C1F3-7972-8D1A-DAD1117964AD}"/>
              </a:ext>
            </a:extLst>
          </p:cNvPr>
          <p:cNvSpPr txBox="1"/>
          <p:nvPr userDrawn="1"/>
        </p:nvSpPr>
        <p:spPr>
          <a:xfrm>
            <a:off x="649030" y="6400885"/>
            <a:ext cx="1670448" cy="246197"/>
          </a:xfrm>
          <a:prstGeom prst="rect">
            <a:avLst/>
          </a:prstGeom>
          <a:noFill/>
        </p:spPr>
        <p:txBody>
          <a:bodyPr wrap="square" lIns="91417" tIns="45708" rIns="91417" bIns="45708">
            <a:spAutoFit/>
          </a:bodyPr>
          <a:lstStyle/>
          <a:p>
            <a:pPr defTabSz="68558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dirty="0">
                <a:solidFill>
                  <a:srgbClr val="002060"/>
                </a:solidFill>
                <a:latin typeface="맑은 고딕" pitchFamily="50" charset="-127"/>
                <a:ea typeface="+mj-ea"/>
                <a:cs typeface="Arial" panose="020B0604020202020204" pitchFamily="34" charset="0"/>
              </a:rPr>
              <a:t>CONFIDENTIAL/ </a:t>
            </a:r>
            <a:r>
              <a:rPr kumimoji="0" lang="ko-KR" altLang="en-US" sz="1000" b="1" dirty="0">
                <a:solidFill>
                  <a:srgbClr val="002060"/>
                </a:solidFill>
                <a:latin typeface="맑은 고딕" pitchFamily="50" charset="-127"/>
                <a:ea typeface="+mj-ea"/>
                <a:cs typeface="Arial" panose="020B0604020202020204" pitchFamily="34" charset="0"/>
              </a:rPr>
              <a:t>Ⓒ</a:t>
            </a:r>
            <a:r>
              <a:rPr kumimoji="0" lang="en-US" altLang="ko-KR" sz="1000" b="1" dirty="0">
                <a:solidFill>
                  <a:srgbClr val="002060"/>
                </a:solidFill>
                <a:latin typeface="맑은 고딕" pitchFamily="50" charset="-127"/>
                <a:ea typeface="+mj-ea"/>
                <a:cs typeface="Arial" panose="020B0604020202020204" pitchFamily="34" charset="0"/>
              </a:rPr>
              <a:t> GST</a:t>
            </a:r>
            <a:endParaRPr kumimoji="0" lang="ko-KR" altLang="en-US" sz="1000" b="1" dirty="0">
              <a:solidFill>
                <a:srgbClr val="002060"/>
              </a:solidFill>
              <a:latin typeface="맑은 고딕" pitchFamily="50" charset="-127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27A102-30E5-D3FB-867B-3A43B4B14CE2}"/>
              </a:ext>
            </a:extLst>
          </p:cNvPr>
          <p:cNvSpPr/>
          <p:nvPr userDrawn="1"/>
        </p:nvSpPr>
        <p:spPr>
          <a:xfrm>
            <a:off x="9387637" y="88358"/>
            <a:ext cx="2157172" cy="354012"/>
          </a:xfrm>
          <a:prstGeom prst="rect">
            <a:avLst/>
          </a:prstGeom>
          <a:solidFill>
            <a:schemeClr val="bg1"/>
          </a:solidFill>
          <a:ln w="3175">
            <a:solidFill>
              <a:sysClr val="windowText" lastClr="000000"/>
            </a:solidFill>
          </a:ln>
          <a:effectLst>
            <a:outerShdw blurRad="127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ko-KR" altLang="en-US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509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맺음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>
            <a:extLst>
              <a:ext uri="{FF2B5EF4-FFF2-40B4-BE49-F238E27FC236}">
                <a16:creationId xmlns:a16="http://schemas.microsoft.com/office/drawing/2014/main" id="{F4135989-43D0-E3D9-2839-F805257C3F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6254" y="6319902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3976125-C179-6777-71FD-A13814FCB5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31269" y="2564855"/>
            <a:ext cx="7129462" cy="1368202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3pPr marL="914377" indent="0">
              <a:buNone/>
              <a:defRPr/>
            </a:lvl3pPr>
          </a:lstStyle>
          <a:p>
            <a:pPr marL="0" marR="0" lvl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992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02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8" r:id="rId2"/>
    <p:sldLayoutId id="2147483687" r:id="rId3"/>
  </p:sldLayoutIdLst>
  <p:txStyles>
    <p:titleStyle>
      <a:lvl1pPr algn="ctr" defTabSz="914377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13D1-1CDF-1C52-0DD3-720DFD3B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9AE062B-E34C-C1F7-DCA7-24297288CE20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620688"/>
          <a:ext cx="10945215" cy="3166723"/>
        </p:xfrm>
        <a:graphic>
          <a:graphicData uri="http://schemas.openxmlformats.org/drawingml/2006/table">
            <a:tbl>
              <a:tblPr/>
              <a:tblGrid>
                <a:gridCol w="364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4019203319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인력현황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교육현황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CIP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진행 사항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437C81A8-3FCD-04DE-A27D-417549D9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6400" y="44624"/>
            <a:ext cx="1728191" cy="433165"/>
          </a:xfrm>
        </p:spPr>
        <p:txBody>
          <a:bodyPr anchor="ctr"/>
          <a:lstStyle/>
          <a:p>
            <a:r>
              <a:rPr lang="en-US" altLang="ko-KR" sz="1600" b="1" dirty="0"/>
              <a:t>GST TAIWAN</a:t>
            </a:r>
            <a:endParaRPr lang="ko-KR" altLang="en-US" sz="1600" b="1" dirty="0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EF7A2243-929E-9391-3F5E-A92D1B1B3439}"/>
              </a:ext>
            </a:extLst>
          </p:cNvPr>
          <p:cNvSpPr txBox="1">
            <a:spLocks/>
          </p:cNvSpPr>
          <p:nvPr/>
        </p:nvSpPr>
        <p:spPr>
          <a:xfrm>
            <a:off x="695400" y="116632"/>
            <a:ext cx="4496605" cy="433165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1" hangingPunct="1"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</a:lstStyle>
          <a:p>
            <a:r>
              <a:rPr lang="en-US" altLang="ko-KR" sz="1600" b="1" dirty="0">
                <a:latin typeface="+mj-ea"/>
              </a:rPr>
              <a:t>1. </a:t>
            </a:r>
            <a:r>
              <a:rPr lang="ko-KR" altLang="en-US" sz="1600" b="1" dirty="0">
                <a:latin typeface="+mj-ea"/>
              </a:rPr>
              <a:t>운영 관리 부문 </a:t>
            </a:r>
            <a:r>
              <a:rPr lang="en-US" altLang="ko-KR" sz="1600" b="1" dirty="0">
                <a:latin typeface="+mj-ea"/>
              </a:rPr>
              <a:t>(SCR/</a:t>
            </a:r>
            <a:r>
              <a:rPr lang="ko-KR" altLang="en-US" sz="1600" b="1" dirty="0">
                <a:latin typeface="+mj-ea"/>
              </a:rPr>
              <a:t>국외</a:t>
            </a:r>
            <a:r>
              <a:rPr lang="en-US" altLang="ko-KR" sz="1600" b="1" dirty="0">
                <a:latin typeface="+mj-ea"/>
              </a:rPr>
              <a:t>)</a:t>
            </a:r>
            <a:endParaRPr lang="ko-KR" altLang="en-US" sz="1600" b="1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B9D6B4F-C99D-D470-7540-871739E4B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34039"/>
              </p:ext>
            </p:extLst>
          </p:nvPr>
        </p:nvGraphicFramePr>
        <p:xfrm>
          <a:off x="695399" y="3864639"/>
          <a:ext cx="10945215" cy="232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405">
                  <a:extLst>
                    <a:ext uri="{9D8B030D-6E8A-4147-A177-3AD203B41FA5}">
                      <a16:colId xmlns:a16="http://schemas.microsoft.com/office/drawing/2014/main" val="2650991297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1580055748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3611957087"/>
                    </a:ext>
                  </a:extLst>
                </a:gridCol>
              </a:tblGrid>
              <a:tr h="2937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 계획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CIP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진행사항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04226"/>
                  </a:ext>
                </a:extLst>
              </a:tr>
              <a:tr h="2028922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3Page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380592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21657"/>
              </p:ext>
            </p:extLst>
          </p:nvPr>
        </p:nvGraphicFramePr>
        <p:xfrm>
          <a:off x="4391986" y="4221083"/>
          <a:ext cx="3576222" cy="1944225"/>
        </p:xfrm>
        <a:graphic>
          <a:graphicData uri="http://schemas.openxmlformats.org/drawingml/2006/table">
            <a:tbl>
              <a:tblPr/>
              <a:tblGrid>
                <a:gridCol w="839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3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(Level 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Veteran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(Level 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3BB195AD-E300-2233-B0E7-122D314DAE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221820"/>
              </p:ext>
            </p:extLst>
          </p:nvPr>
        </p:nvGraphicFramePr>
        <p:xfrm>
          <a:off x="7971212" y="938898"/>
          <a:ext cx="3633938" cy="2857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8" y="4176512"/>
            <a:ext cx="3456384" cy="1988796"/>
          </a:xfrm>
          <a:prstGeom prst="rect">
            <a:avLst/>
          </a:prstGeom>
        </p:spPr>
      </p:pic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7C02D16B-3B8B-E8E2-B6BD-C34C56717D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989924"/>
              </p:ext>
            </p:extLst>
          </p:nvPr>
        </p:nvGraphicFramePr>
        <p:xfrm>
          <a:off x="695399" y="938897"/>
          <a:ext cx="3600401" cy="2769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9463C25F-05F4-D3C6-EFFF-F4E3C2DFC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1858200"/>
              </p:ext>
            </p:extLst>
          </p:nvPr>
        </p:nvGraphicFramePr>
        <p:xfrm>
          <a:off x="4391986" y="957977"/>
          <a:ext cx="3543761" cy="2769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26175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F3D6-FFFA-CDCC-CBB1-CCC3AAB1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8959B89-D0ED-2DB7-055E-7DC51AFB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6400" y="44624"/>
            <a:ext cx="1728191" cy="433165"/>
          </a:xfrm>
        </p:spPr>
        <p:txBody>
          <a:bodyPr anchor="ctr"/>
          <a:lstStyle/>
          <a:p>
            <a:r>
              <a:rPr lang="en-US" altLang="ko-KR" sz="1600" b="1" dirty="0"/>
              <a:t>GST TAIWAN</a:t>
            </a:r>
            <a:endParaRPr lang="ko-KR" altLang="en-US" sz="1600" b="1" dirty="0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0F6C3391-B98F-C58A-5F9D-C295D39F475B}"/>
              </a:ext>
            </a:extLst>
          </p:cNvPr>
          <p:cNvSpPr txBox="1">
            <a:spLocks/>
          </p:cNvSpPr>
          <p:nvPr/>
        </p:nvSpPr>
        <p:spPr>
          <a:xfrm>
            <a:off x="695400" y="116632"/>
            <a:ext cx="4496605" cy="433165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1" hangingPunct="1"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</a:lstStyle>
          <a:p>
            <a:r>
              <a:rPr lang="en-US" altLang="ko-KR" sz="1600" b="1" dirty="0">
                <a:latin typeface="+mj-ea"/>
              </a:rPr>
              <a:t>1. </a:t>
            </a:r>
            <a:r>
              <a:rPr lang="ko-KR" altLang="en-US" sz="1600" b="1" dirty="0">
                <a:latin typeface="+mj-ea"/>
              </a:rPr>
              <a:t>운영 관리 부문 </a:t>
            </a:r>
            <a:r>
              <a:rPr lang="en-US" altLang="ko-KR" sz="1600" b="1" dirty="0">
                <a:latin typeface="+mj-ea"/>
              </a:rPr>
              <a:t>(SCR/</a:t>
            </a:r>
            <a:r>
              <a:rPr lang="ko-KR" altLang="en-US" sz="1600" b="1" dirty="0">
                <a:latin typeface="+mj-ea"/>
              </a:rPr>
              <a:t>국외</a:t>
            </a:r>
            <a:r>
              <a:rPr lang="en-US" altLang="ko-KR" sz="1600" b="1" dirty="0">
                <a:latin typeface="+mj-ea"/>
              </a:rPr>
              <a:t>)</a:t>
            </a:r>
            <a:endParaRPr lang="ko-KR" altLang="en-US" sz="16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5A6609-28A1-D1CC-C557-2106C699536C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620688"/>
          <a:ext cx="10945215" cy="3166723"/>
        </p:xfrm>
        <a:graphic>
          <a:graphicData uri="http://schemas.openxmlformats.org/drawingml/2006/table">
            <a:tbl>
              <a:tblPr/>
              <a:tblGrid>
                <a:gridCol w="364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4019203319"/>
                    </a:ext>
                  </a:extLst>
                </a:gridCol>
                <a:gridCol w="364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 건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 설비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 공수</a:t>
                      </a:r>
                    </a:p>
                  </a:txBody>
                  <a:tcPr marL="91461" marR="91461" marT="45721" marB="45721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21" marB="45721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BE87FE8-8880-D713-2107-5278069A6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5757"/>
              </p:ext>
            </p:extLst>
          </p:nvPr>
        </p:nvGraphicFramePr>
        <p:xfrm>
          <a:off x="695399" y="3864639"/>
          <a:ext cx="10945215" cy="232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5215">
                  <a:extLst>
                    <a:ext uri="{9D8B030D-6E8A-4147-A177-3AD203B41FA5}">
                      <a16:colId xmlns:a16="http://schemas.microsoft.com/office/drawing/2014/main" val="2650991297"/>
                    </a:ext>
                  </a:extLst>
                </a:gridCol>
              </a:tblGrid>
              <a:tr h="2937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 및 운영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 사항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04226"/>
                  </a:ext>
                </a:extLst>
              </a:tr>
              <a:tr h="2028922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3805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67F9E98-5F6F-93E0-2A99-3595852C5B21}"/>
              </a:ext>
            </a:extLst>
          </p:cNvPr>
          <p:cNvSpPr txBox="1"/>
          <p:nvPr/>
        </p:nvSpPr>
        <p:spPr>
          <a:xfrm>
            <a:off x="11108775" y="730022"/>
            <a:ext cx="60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[</a:t>
            </a:r>
            <a:r>
              <a:rPr lang="ko-KR" altLang="en-US" sz="700" b="1" dirty="0"/>
              <a:t>주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단위</a:t>
            </a:r>
            <a:r>
              <a:rPr lang="en-US" altLang="ko-KR" sz="700" b="1" dirty="0"/>
              <a:t>]</a:t>
            </a:r>
            <a:endParaRPr lang="ko-KR" altLang="en-US" sz="7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60AB8-0D9C-E836-6CBC-EE171045DE38}"/>
              </a:ext>
            </a:extLst>
          </p:cNvPr>
          <p:cNvSpPr txBox="1"/>
          <p:nvPr/>
        </p:nvSpPr>
        <p:spPr>
          <a:xfrm>
            <a:off x="7464152" y="730021"/>
            <a:ext cx="60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[</a:t>
            </a:r>
            <a:r>
              <a:rPr lang="ko-KR" altLang="en-US" sz="700" b="1" dirty="0"/>
              <a:t>월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단위</a:t>
            </a:r>
            <a:r>
              <a:rPr lang="en-US" altLang="ko-KR" sz="700" b="1" dirty="0"/>
              <a:t>]</a:t>
            </a:r>
            <a:endParaRPr lang="ko-KR" altLang="en-US" sz="7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2B348B-881C-EA5A-EB5C-143739F983F2}"/>
              </a:ext>
            </a:extLst>
          </p:cNvPr>
          <p:cNvSpPr txBox="1"/>
          <p:nvPr/>
        </p:nvSpPr>
        <p:spPr>
          <a:xfrm>
            <a:off x="3838399" y="730020"/>
            <a:ext cx="60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[</a:t>
            </a:r>
            <a:r>
              <a:rPr lang="ko-KR" altLang="en-US" sz="700" b="1" dirty="0"/>
              <a:t>주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단위</a:t>
            </a:r>
            <a:r>
              <a:rPr lang="en-US" altLang="ko-KR" sz="700" b="1" dirty="0"/>
              <a:t>]</a:t>
            </a:r>
            <a:endParaRPr lang="ko-KR" altLang="en-US" sz="700" b="1" dirty="0"/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1770DEC9-D4C9-C672-CA4C-5F33DA0C2A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1958043"/>
              </p:ext>
            </p:extLst>
          </p:nvPr>
        </p:nvGraphicFramePr>
        <p:xfrm>
          <a:off x="637130" y="930075"/>
          <a:ext cx="3680576" cy="2857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9C788041-AA34-0A8B-652D-9C7A33B63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4683772"/>
              </p:ext>
            </p:extLst>
          </p:nvPr>
        </p:nvGraphicFramePr>
        <p:xfrm>
          <a:off x="4317706" y="906245"/>
          <a:ext cx="3650502" cy="2910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4A549111-4392-9263-2BF0-BD9574AEB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97045"/>
              </p:ext>
            </p:extLst>
          </p:nvPr>
        </p:nvGraphicFramePr>
        <p:xfrm>
          <a:off x="7907506" y="906245"/>
          <a:ext cx="3683008" cy="2890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5692"/>
              </p:ext>
            </p:extLst>
          </p:nvPr>
        </p:nvGraphicFramePr>
        <p:xfrm>
          <a:off x="695404" y="4167688"/>
          <a:ext cx="10945213" cy="2096882"/>
        </p:xfrm>
        <a:graphic>
          <a:graphicData uri="http://schemas.openxmlformats.org/drawingml/2006/table">
            <a:tbl>
              <a:tblPr/>
              <a:tblGrid>
                <a:gridCol w="1040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7009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구분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가동 장비 대수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가동 챔버수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미가동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담당 인원</a:t>
                      </a:r>
                      <a:r>
                        <a:rPr lang="en-US" altLang="ko-KR" sz="900" b="1">
                          <a:effectLst/>
                        </a:rPr>
                        <a:t>(</a:t>
                      </a:r>
                      <a:r>
                        <a:rPr lang="ko-KR" altLang="en-US" sz="900" b="1">
                          <a:effectLst/>
                        </a:rPr>
                        <a:t>명</a:t>
                      </a:r>
                      <a:r>
                        <a:rPr lang="en-US" altLang="ko-KR" sz="900" b="1">
                          <a:effectLst/>
                        </a:rPr>
                        <a:t>)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PM(</a:t>
                      </a:r>
                      <a:r>
                        <a:rPr lang="ko-KR" altLang="en-US" sz="900" b="1">
                          <a:effectLst/>
                        </a:rPr>
                        <a:t>건</a:t>
                      </a:r>
                      <a:r>
                        <a:rPr lang="en-US" altLang="ko-KR" sz="900" b="1">
                          <a:effectLst/>
                        </a:rPr>
                        <a:t>)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0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TOTAL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W/I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W/O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TOTAL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W/I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effectLst/>
                        </a:rPr>
                        <a:t>W/O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장비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챔버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주재원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현채인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Micron F16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961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497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464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1,878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964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914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135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261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36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122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Micron F11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255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107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148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256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107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149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29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29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8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16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PSMC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35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38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35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TASC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Winbond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7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14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6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8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Tong luo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25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43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>
                          <a:effectLst/>
                        </a:rPr>
                        <a:t>1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Tainan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>
                          <a:effectLst/>
                        </a:rPr>
                        <a:t>−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858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TOTAL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1,262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610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652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2,190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1,080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1,110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189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333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51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>
                          <a:effectLst/>
                        </a:rPr>
                        <a:t>143</a:t>
                      </a:r>
                    </a:p>
                  </a:txBody>
                  <a:tcPr marL="37674" marR="37674" marT="14128" marB="14128" anchor="ctr">
                    <a:lnL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50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24A1-02FB-4926-65B7-165505DD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>
            <a:extLst>
              <a:ext uri="{FF2B5EF4-FFF2-40B4-BE49-F238E27FC236}">
                <a16:creationId xmlns:a16="http://schemas.microsoft.com/office/drawing/2014/main" id="{F43012F9-0F66-1150-C8F6-A4AE76B21E50}"/>
              </a:ext>
            </a:extLst>
          </p:cNvPr>
          <p:cNvSpPr txBox="1">
            <a:spLocks/>
          </p:cNvSpPr>
          <p:nvPr/>
        </p:nvSpPr>
        <p:spPr>
          <a:xfrm>
            <a:off x="695400" y="116632"/>
            <a:ext cx="4496605" cy="433165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1" hangingPunct="1"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ko-KR" sz="1600" b="1" dirty="0"/>
              <a:t>2. KPI’</a:t>
            </a:r>
            <a:r>
              <a:rPr lang="ko-KR" altLang="en-US" sz="1600" b="1" dirty="0"/>
              <a:t> 지표 부문 </a:t>
            </a:r>
            <a:r>
              <a:rPr lang="en-US" altLang="ko-KR" sz="1600" b="1" dirty="0"/>
              <a:t>(SCR/</a:t>
            </a:r>
            <a:r>
              <a:rPr lang="ko-KR" altLang="en-US" sz="1600" b="1" dirty="0"/>
              <a:t>해외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8F0A91-C17B-6641-342A-E8193E1C5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773496"/>
              </p:ext>
            </p:extLst>
          </p:nvPr>
        </p:nvGraphicFramePr>
        <p:xfrm>
          <a:off x="689725" y="620688"/>
          <a:ext cx="5334267" cy="2135993"/>
        </p:xfrm>
        <a:graphic>
          <a:graphicData uri="http://schemas.openxmlformats.org/drawingml/2006/table">
            <a:tbl>
              <a:tblPr/>
              <a:tblGrid>
                <a:gridCol w="533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40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Alarm &amp; All 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By Pass(Micron)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16" marB="45716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58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16" marB="45716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5F6FA6-1785-B009-0688-AC16C9310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445038"/>
              </p:ext>
            </p:extLst>
          </p:nvPr>
        </p:nvGraphicFramePr>
        <p:xfrm>
          <a:off x="6168010" y="634794"/>
          <a:ext cx="5458475" cy="2121887"/>
        </p:xfrm>
        <a:graphic>
          <a:graphicData uri="http://schemas.openxmlformats.org/drawingml/2006/table">
            <a:tbl>
              <a:tblPr/>
              <a:tblGrid>
                <a:gridCol w="545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46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Alarm &amp; All 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By Pass(Micron </a:t>
                      </a: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外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16" marB="45716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42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Font typeface="Arial" panose="020B0604020202020204" pitchFamily="34" charset="0"/>
                        <a:defRPr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buFont typeface="Arial" panose="020B0604020202020204" pitchFamily="34" charset="0"/>
                        <a:defRPr sz="16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400" b="1">
                          <a:solidFill>
                            <a:srgbClr val="595959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61" marR="91461" marT="45716" marB="45716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1EEF330-CBBA-AC50-7793-37CD32CA1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13645"/>
              </p:ext>
            </p:extLst>
          </p:nvPr>
        </p:nvGraphicFramePr>
        <p:xfrm>
          <a:off x="689725" y="3010295"/>
          <a:ext cx="10936759" cy="311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759">
                  <a:extLst>
                    <a:ext uri="{9D8B030D-6E8A-4147-A177-3AD203B41FA5}">
                      <a16:colId xmlns:a16="http://schemas.microsoft.com/office/drawing/2014/main" val="3555454135"/>
                    </a:ext>
                  </a:extLst>
                </a:gridCol>
              </a:tblGrid>
              <a:tr h="6192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Alarm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보고 사항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53060"/>
                  </a:ext>
                </a:extLst>
              </a:tr>
              <a:tr h="2500560">
                <a:tc>
                  <a:txBody>
                    <a:bodyPr/>
                    <a:lstStyle/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</a:rPr>
                        <a:t>All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By-Pass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현황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79978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B806D2A-7210-F770-8147-E6E93DCF1BBF}"/>
              </a:ext>
            </a:extLst>
          </p:cNvPr>
          <p:cNvSpPr txBox="1"/>
          <p:nvPr/>
        </p:nvSpPr>
        <p:spPr>
          <a:xfrm>
            <a:off x="5507186" y="727861"/>
            <a:ext cx="60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[</a:t>
            </a:r>
            <a:r>
              <a:rPr lang="ko-KR" altLang="en-US" sz="700" b="1" dirty="0"/>
              <a:t>월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단위</a:t>
            </a:r>
            <a:r>
              <a:rPr lang="en-US" altLang="ko-KR" sz="700" b="1" dirty="0"/>
              <a:t>]</a:t>
            </a:r>
            <a:endParaRPr lang="ko-KR" altLang="en-US" sz="7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90005-CD55-1C60-4FEF-B5A2AE231797}"/>
              </a:ext>
            </a:extLst>
          </p:cNvPr>
          <p:cNvSpPr txBox="1"/>
          <p:nvPr/>
        </p:nvSpPr>
        <p:spPr>
          <a:xfrm>
            <a:off x="11108775" y="727428"/>
            <a:ext cx="6038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[</a:t>
            </a:r>
            <a:r>
              <a:rPr lang="ko-KR" altLang="en-US" sz="700" b="1" dirty="0"/>
              <a:t>주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단위</a:t>
            </a:r>
            <a:r>
              <a:rPr lang="en-US" altLang="ko-KR" sz="700" b="1" dirty="0"/>
              <a:t>]</a:t>
            </a:r>
            <a:endParaRPr lang="ko-KR" altLang="en-US" sz="700" b="1" dirty="0"/>
          </a:p>
        </p:txBody>
      </p:sp>
      <p:sp>
        <p:nvSpPr>
          <p:cNvPr id="19" name="제목 3">
            <a:extLst>
              <a:ext uri="{FF2B5EF4-FFF2-40B4-BE49-F238E27FC236}">
                <a16:creationId xmlns:a16="http://schemas.microsoft.com/office/drawing/2014/main" id="{437C81A8-3FCD-04DE-A27D-417549D96E44}"/>
              </a:ext>
            </a:extLst>
          </p:cNvPr>
          <p:cNvSpPr txBox="1">
            <a:spLocks/>
          </p:cNvSpPr>
          <p:nvPr/>
        </p:nvSpPr>
        <p:spPr>
          <a:xfrm>
            <a:off x="9696400" y="44624"/>
            <a:ext cx="1728191" cy="433165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1" hangingPunct="1"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</a:lstStyle>
          <a:p>
            <a:r>
              <a:rPr lang="en-US" altLang="ko-KR" sz="1600" b="1" dirty="0"/>
              <a:t>GST TAIWAN</a:t>
            </a:r>
            <a:endParaRPr lang="ko-KR" altLang="en-US" sz="16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1AEBC2D-8144-FD3E-7238-111ED3F34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34680"/>
              </p:ext>
            </p:extLst>
          </p:nvPr>
        </p:nvGraphicFramePr>
        <p:xfrm>
          <a:off x="689725" y="5517232"/>
          <a:ext cx="10936760" cy="496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9972">
                  <a:extLst>
                    <a:ext uri="{9D8B030D-6E8A-4147-A177-3AD203B41FA5}">
                      <a16:colId xmlns:a16="http://schemas.microsoft.com/office/drawing/2014/main" val="3497892632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664335159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3502820122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309268473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3190148518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2405153770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2494417130"/>
                    </a:ext>
                  </a:extLst>
                </a:gridCol>
                <a:gridCol w="875072">
                  <a:extLst>
                    <a:ext uri="{9D8B030D-6E8A-4147-A177-3AD203B41FA5}">
                      <a16:colId xmlns:a16="http://schemas.microsoft.com/office/drawing/2014/main" val="2814313460"/>
                    </a:ext>
                  </a:extLst>
                </a:gridCol>
                <a:gridCol w="1382580">
                  <a:extLst>
                    <a:ext uri="{9D8B030D-6E8A-4147-A177-3AD203B41FA5}">
                      <a16:colId xmlns:a16="http://schemas.microsoft.com/office/drawing/2014/main" val="2466127293"/>
                    </a:ext>
                  </a:extLst>
                </a:gridCol>
                <a:gridCol w="1494184">
                  <a:extLst>
                    <a:ext uri="{9D8B030D-6E8A-4147-A177-3AD203B41FA5}">
                      <a16:colId xmlns:a16="http://schemas.microsoft.com/office/drawing/2014/main" val="477194599"/>
                    </a:ext>
                  </a:extLst>
                </a:gridCol>
                <a:gridCol w="1493232">
                  <a:extLst>
                    <a:ext uri="{9D8B030D-6E8A-4147-A177-3AD203B41FA5}">
                      <a16:colId xmlns:a16="http://schemas.microsoft.com/office/drawing/2014/main" val="3151489936"/>
                    </a:ext>
                  </a:extLst>
                </a:gridCol>
                <a:gridCol w="1318242">
                  <a:extLst>
                    <a:ext uri="{9D8B030D-6E8A-4147-A177-3AD203B41FA5}">
                      <a16:colId xmlns:a16="http://schemas.microsoft.com/office/drawing/2014/main" val="2533340601"/>
                    </a:ext>
                  </a:extLst>
                </a:gridCol>
              </a:tblGrid>
              <a:tr h="248400"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S/N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Chamber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Date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Message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Rooted Cause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Corrective Action Item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etc.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707876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>
                        <a:buNone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939779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95E6EB73-1246-D200-3C78-8806C39EE8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238579"/>
              </p:ext>
            </p:extLst>
          </p:nvPr>
        </p:nvGraphicFramePr>
        <p:xfrm>
          <a:off x="763887" y="878442"/>
          <a:ext cx="5260105" cy="1878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ADC87E90-0269-01FD-CB09-D674658F36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317555"/>
              </p:ext>
            </p:extLst>
          </p:nvPr>
        </p:nvGraphicFramePr>
        <p:xfrm>
          <a:off x="6219759" y="878442"/>
          <a:ext cx="5354975" cy="1888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691571"/>
              </p:ext>
            </p:extLst>
          </p:nvPr>
        </p:nvGraphicFramePr>
        <p:xfrm>
          <a:off x="689725" y="3633190"/>
          <a:ext cx="10936758" cy="1224292"/>
        </p:xfrm>
        <a:graphic>
          <a:graphicData uri="http://schemas.openxmlformats.org/drawingml/2006/table">
            <a:tbl>
              <a:tblPr/>
              <a:tblGrid>
                <a:gridCol w="742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4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7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>
                          <a:effectLst/>
                        </a:rPr>
                        <a:t>No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원인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건수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주요 현상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effectLst/>
                        </a:rPr>
                        <a:t>조치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1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Drain Valve Fail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Tank Level High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Drain Valve Replaced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Burner Port Powder clogging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Inlet Pressure High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Inlet</a:t>
                      </a:r>
                      <a:r>
                        <a:rPr lang="en-US" sz="900" baseline="0">
                          <a:effectLst/>
                        </a:rPr>
                        <a:t> port </a:t>
                      </a:r>
                      <a:r>
                        <a:rPr lang="en-US" sz="900">
                          <a:effectLst/>
                        </a:rPr>
                        <a:t>Cleaning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LNG MFC Fail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LNG flow +/−% over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effectLst/>
                        </a:rPr>
                        <a:t>LNG MFC Replaced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763887" y="35010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고장 원인 TOP 3 (W28)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191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264C9AAF322884689C6C973F29BAC40" ma:contentTypeVersion="16" ma:contentTypeDescription="새 문서를 만듭니다." ma:contentTypeScope="" ma:versionID="e478016c7f0ca1ba063aa70811ae7a1a">
  <xsd:schema xmlns:xsd="http://www.w3.org/2001/XMLSchema" xmlns:xs="http://www.w3.org/2001/XMLSchema" xmlns:p="http://schemas.microsoft.com/office/2006/metadata/properties" xmlns:ns1="http://schemas.microsoft.com/sharepoint/v3" xmlns:ns2="66366b32-887f-4d31-bf4f-047856bb3881" xmlns:ns3="0e82f3fb-c6db-4248-a10e-36976621f885" targetNamespace="http://schemas.microsoft.com/office/2006/metadata/properties" ma:root="true" ma:fieldsID="a3df091cc84012b36ecab398598d5440" ns1:_="" ns2:_="" ns3:_="">
    <xsd:import namespace="http://schemas.microsoft.com/sharepoint/v3"/>
    <xsd:import namespace="66366b32-887f-4d31-bf4f-047856bb3881"/>
    <xsd:import namespace="0e82f3fb-c6db-4248-a10e-36976621f8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통합 준수 정책 속성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통합 준수 정책 UI 작업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366b32-887f-4d31-bf4f-047856bb38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5b0baefc-3326-4936-9c0e-389b6135e2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2f3fb-c6db-4248-a10e-36976621f88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fbda1a1-2b39-4498-919a-0f57f83788f6}" ma:internalName="TaxCatchAll" ma:showField="CatchAllData" ma:web="0e82f3fb-c6db-4248-a10e-36976621f8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366b32-887f-4d31-bf4f-047856bb3881">
      <Terms xmlns="http://schemas.microsoft.com/office/infopath/2007/PartnerControls"/>
    </lcf76f155ced4ddcb4097134ff3c332f>
    <TaxCatchAll xmlns="0e82f3fb-c6db-4248-a10e-36976621f88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5B807FC-B7FF-445D-A8D3-EFB79E4386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6366b32-887f-4d31-bf4f-047856bb3881"/>
    <ds:schemaRef ds:uri="0e82f3fb-c6db-4248-a10e-36976621f8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73CA55-462D-4BAB-AFBD-12C5D1F666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8E90F5-D1E3-4075-B988-F45674791B4A}">
  <ds:schemaRefs>
    <ds:schemaRef ds:uri="http://schemas.microsoft.com/office/2006/documentManagement/types"/>
    <ds:schemaRef ds:uri="http://purl.org/dc/terms/"/>
    <ds:schemaRef ds:uri="66366b32-887f-4d31-bf4f-047856bb3881"/>
    <ds:schemaRef ds:uri="http://www.w3.org/XML/1998/namespace"/>
    <ds:schemaRef ds:uri="http://purl.org/dc/elements/1.1/"/>
    <ds:schemaRef ds:uri="0e82f3fb-c6db-4248-a10e-36976621f88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ccab008f-91a1-4cee-8c30-378ebfb258e3}" enabled="1" method="Standard" siteId="{bed54eb6-6d05-4a6c-a7cd-c7b1cba1a0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16113</TotalTime>
  <Words>358</Words>
  <Application>Microsoft Office PowerPoint</Application>
  <PresentationFormat>와이드스크린</PresentationFormat>
  <Paragraphs>211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맑은 고딕</vt:lpstr>
      <vt:lpstr>Arial</vt:lpstr>
      <vt:lpstr>Arial Narrow</vt:lpstr>
      <vt:lpstr>디자인 사용자 지정</vt:lpstr>
      <vt:lpstr>GST TAIWAN</vt:lpstr>
      <vt:lpstr>GST TAIWAN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대표이사 선임관련</dc:title>
  <dc:creator>jykim4</dc:creator>
  <cp:lastModifiedBy>최 민</cp:lastModifiedBy>
  <cp:revision>756</cp:revision>
  <cp:lastPrinted>2025-09-02T07:52:09Z</cp:lastPrinted>
  <dcterms:created xsi:type="dcterms:W3CDTF">2019-01-03T02:02:58Z</dcterms:created>
  <dcterms:modified xsi:type="dcterms:W3CDTF">2026-08-04T15:29:31Z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0x010100E264C9AAF322884689C6C973F29BAC40</vt:lpwstr>
  </property>
  <property fmtid="{D5CDD505-2E9C-101B-9397-08002B2CF9AE}" pid="3" name="Order">
    <vt:r8>1536800</vt:r8>
  </property>
  <property fmtid="{D5CDD505-2E9C-101B-9397-08002B2CF9AE}" pid="4" name="MediaServiceImageTags">
    <vt:lpwstr/>
  </property>
</Properties>
</file>